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6247" autoAdjust="0"/>
  </p:normalViewPr>
  <p:slideViewPr>
    <p:cSldViewPr snapToGrid="0" snapToObjects="1">
      <p:cViewPr varScale="1">
        <p:scale>
          <a:sx n="103" d="100"/>
          <a:sy n="103" d="100"/>
        </p:scale>
        <p:origin x="8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43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Διάγραμμα Συνδέσεων — Arduino UNO + Gravity IO Shield V7.1</a:t>
            </a:r>
            <a:r>
              <a:rPr lang="el-GR" sz="1500" b="1" dirty="0">
                <a:solidFill>
                  <a:srgbClr val="FFFFFF"/>
                </a:solidFill>
              </a:rPr>
              <a:t> (</a:t>
            </a:r>
            <a:r>
              <a:rPr lang="en-US" sz="1500" b="1" dirty="0">
                <a:solidFill>
                  <a:srgbClr val="FFFFFF"/>
                </a:solidFill>
              </a:rPr>
              <a:t>DFR0265)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47472"/>
            <a:ext cx="1216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l-GR" sz="850" dirty="0">
                <a:solidFill>
                  <a:schemeClr val="bg1"/>
                </a:solidFill>
              </a:rPr>
              <a:t>Αισθητήρες</a:t>
            </a:r>
            <a:r>
              <a:rPr lang="el-GR" sz="850" dirty="0">
                <a:solidFill>
                  <a:srgbClr val="BDD7EE"/>
                </a:solidFill>
              </a:rPr>
              <a:t>: </a:t>
            </a:r>
            <a:r>
              <a:rPr lang="en-US" sz="850" dirty="0">
                <a:solidFill>
                  <a:srgbClr val="BDD7EE"/>
                </a:solidFill>
              </a:rPr>
              <a:t>• High Accuracy Multifunctional Sensor:  Temperature, Humidity, Pressure, Ambient Light and UV (SEN0501)  •  Steam Sensor  (SEN0121) • Anemometer Wind Speed Sensor (SEN0170)</a:t>
            </a:r>
          </a:p>
          <a:p>
            <a:pPr algn="ctr"/>
            <a:r>
              <a:rPr lang="el-GR" sz="850" dirty="0">
                <a:solidFill>
                  <a:schemeClr val="bg1"/>
                </a:solidFill>
              </a:rPr>
              <a:t>Ενεργοποιητές</a:t>
            </a:r>
            <a:r>
              <a:rPr lang="en-US" sz="850" dirty="0">
                <a:solidFill>
                  <a:srgbClr val="BDD7EE"/>
                </a:solidFill>
              </a:rPr>
              <a:t>:  • </a:t>
            </a:r>
            <a:r>
              <a:rPr lang="el-GR" sz="850" dirty="0">
                <a:solidFill>
                  <a:srgbClr val="BDD7EE"/>
                </a:solidFill>
              </a:rPr>
              <a:t>2</a:t>
            </a:r>
            <a:r>
              <a:rPr lang="en-US" sz="850" dirty="0">
                <a:solidFill>
                  <a:srgbClr val="BDD7EE"/>
                </a:solidFill>
              </a:rPr>
              <a:t> x Micro Metal Gear Motor (FIT0457) • I2C 16x2 LCD (DFR0464) • 2 x Digital RGB Led Module (DFR0605)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2608" y="713232"/>
            <a:ext cx="1783080" cy="2395728"/>
          </a:xfrm>
          <a:prstGeom prst="roundRect">
            <a:avLst>
              <a:gd name="adj" fmla="val 5128"/>
            </a:avLst>
          </a:prstGeom>
          <a:solidFill>
            <a:srgbClr val="E8F5E9"/>
          </a:solidFill>
          <a:ln w="25400">
            <a:solidFill>
              <a:srgbClr val="1D7A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7" name="Shape 5"/>
          <p:cNvSpPr/>
          <p:nvPr/>
        </p:nvSpPr>
        <p:spPr>
          <a:xfrm>
            <a:off x="292608" y="713232"/>
            <a:ext cx="1783080" cy="402336"/>
          </a:xfrm>
          <a:prstGeom prst="roundRect">
            <a:avLst>
              <a:gd name="adj" fmla="val 22727"/>
            </a:avLst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Shape 6"/>
          <p:cNvSpPr/>
          <p:nvPr/>
        </p:nvSpPr>
        <p:spPr>
          <a:xfrm>
            <a:off x="292608" y="932688"/>
            <a:ext cx="1783080" cy="18288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292608" y="731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Arduino UNO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96012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DDDDD"/>
                </a:solidFill>
              </a:rPr>
              <a:t>ATmega328P  •  5V  •  16MHz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ΑΝΑΛΟΓΙΚΑ</a:t>
            </a:r>
            <a:r>
              <a:rPr lang="en-US" sz="600" b="1" dirty="0">
                <a:solidFill>
                  <a:srgbClr val="1F4E79"/>
                </a:solidFill>
              </a:rPr>
              <a:t> PINS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6576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36576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A0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64008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64008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A1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91440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91440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A2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18872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Text 17"/>
          <p:cNvSpPr/>
          <p:nvPr/>
        </p:nvSpPr>
        <p:spPr>
          <a:xfrm>
            <a:off x="118872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A3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146304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146304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A4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73736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3" name="Text 21"/>
          <p:cNvSpPr/>
          <p:nvPr/>
        </p:nvSpPr>
        <p:spPr>
          <a:xfrm>
            <a:off x="173736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A5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65760" y="15544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ΨΗΦΙΑΚΑ</a:t>
            </a:r>
            <a:r>
              <a:rPr lang="en-US" sz="600" b="1" dirty="0">
                <a:solidFill>
                  <a:srgbClr val="1F4E79"/>
                </a:solidFill>
              </a:rPr>
              <a:t> PINS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Text 24"/>
          <p:cNvSpPr/>
          <p:nvPr/>
        </p:nvSpPr>
        <p:spPr>
          <a:xfrm>
            <a:off x="365760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D0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608076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8" name="Text 26"/>
          <p:cNvSpPr/>
          <p:nvPr/>
        </p:nvSpPr>
        <p:spPr>
          <a:xfrm>
            <a:off x="608076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850392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0" name="Text 28"/>
          <p:cNvSpPr/>
          <p:nvPr/>
        </p:nvSpPr>
        <p:spPr>
          <a:xfrm>
            <a:off x="850392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D2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092708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2" name="Text 30"/>
          <p:cNvSpPr/>
          <p:nvPr/>
        </p:nvSpPr>
        <p:spPr>
          <a:xfrm>
            <a:off x="1092708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D3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335024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4" name="Text 32"/>
          <p:cNvSpPr/>
          <p:nvPr/>
        </p:nvSpPr>
        <p:spPr>
          <a:xfrm>
            <a:off x="1335024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D4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577340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6" name="Text 34"/>
          <p:cNvSpPr/>
          <p:nvPr/>
        </p:nvSpPr>
        <p:spPr>
          <a:xfrm>
            <a:off x="1577340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D5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819656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8" name="Text 36"/>
          <p:cNvSpPr/>
          <p:nvPr/>
        </p:nvSpPr>
        <p:spPr>
          <a:xfrm>
            <a:off x="1819656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D6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365760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0" name="Text 38"/>
          <p:cNvSpPr/>
          <p:nvPr/>
        </p:nvSpPr>
        <p:spPr>
          <a:xfrm>
            <a:off x="365760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D7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608076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2" name="Text 40"/>
          <p:cNvSpPr/>
          <p:nvPr/>
        </p:nvSpPr>
        <p:spPr>
          <a:xfrm>
            <a:off x="608076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D8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850392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4" name="Text 42"/>
          <p:cNvSpPr/>
          <p:nvPr/>
        </p:nvSpPr>
        <p:spPr>
          <a:xfrm>
            <a:off x="850392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D9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1092708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6" name="Text 44"/>
          <p:cNvSpPr/>
          <p:nvPr/>
        </p:nvSpPr>
        <p:spPr>
          <a:xfrm>
            <a:off x="1092708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D10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335024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8" name="Text 46"/>
          <p:cNvSpPr/>
          <p:nvPr/>
        </p:nvSpPr>
        <p:spPr>
          <a:xfrm>
            <a:off x="1335024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D11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1577340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0" name="Text 48"/>
          <p:cNvSpPr/>
          <p:nvPr/>
        </p:nvSpPr>
        <p:spPr>
          <a:xfrm>
            <a:off x="1577340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D12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819656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2" name="Text 50"/>
          <p:cNvSpPr/>
          <p:nvPr/>
        </p:nvSpPr>
        <p:spPr>
          <a:xfrm>
            <a:off x="1819656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D13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365760" y="252374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F4E79"/>
                </a:solidFill>
              </a:rPr>
              <a:t>POWER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65760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5" name="Text 53"/>
          <p:cNvSpPr/>
          <p:nvPr/>
        </p:nvSpPr>
        <p:spPr>
          <a:xfrm>
            <a:off x="365760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5V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68096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7" name="Text 55"/>
          <p:cNvSpPr/>
          <p:nvPr/>
        </p:nvSpPr>
        <p:spPr>
          <a:xfrm>
            <a:off x="768096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3.3V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170432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9" name="Text 57"/>
          <p:cNvSpPr/>
          <p:nvPr/>
        </p:nvSpPr>
        <p:spPr>
          <a:xfrm>
            <a:off x="1170432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GND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365760" y="292608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i="1" dirty="0">
                <a:solidFill>
                  <a:srgbClr val="AAAAAA"/>
                </a:solidFill>
              </a:rPr>
              <a:t>© Arduino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228600" y="3200400"/>
            <a:ext cx="1911096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70" name="Shape 68"/>
          <p:cNvSpPr/>
          <p:nvPr/>
        </p:nvSpPr>
        <p:spPr>
          <a:xfrm>
            <a:off x="228600" y="3200400"/>
            <a:ext cx="1911096" cy="274320"/>
          </a:xfrm>
          <a:prstGeom prst="roundRect">
            <a:avLst>
              <a:gd name="adj" fmla="val 3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1" name="Shape 69"/>
          <p:cNvSpPr/>
          <p:nvPr/>
        </p:nvSpPr>
        <p:spPr>
          <a:xfrm>
            <a:off x="228600" y="3346704"/>
            <a:ext cx="1911096" cy="1280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2" name="Text 70"/>
          <p:cNvSpPr/>
          <p:nvPr/>
        </p:nvSpPr>
        <p:spPr>
          <a:xfrm>
            <a:off x="228600" y="32004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Gravity IO Shield V7.1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28600" y="348386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</a:rPr>
              <a:t>DFR0265  •  14 Digital + 6 Analog Gravity ports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28600" y="367588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</a:rPr>
              <a:t>3-pin connectors: ■ GND  ■ VCC  ■ Signal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184148" y="3108960"/>
            <a:ext cx="0" cy="91440"/>
          </a:xfrm>
          <a:prstGeom prst="line">
            <a:avLst/>
          </a:prstGeom>
          <a:noFill/>
          <a:ln w="19050">
            <a:solidFill>
              <a:srgbClr val="1D7A3A"/>
            </a:solidFill>
            <a:prstDash val="dash"/>
          </a:ln>
        </p:spPr>
        <p:txBody>
          <a:bodyPr/>
          <a:lstStyle/>
          <a:p>
            <a:endParaRPr lang="el-GR"/>
          </a:p>
        </p:txBody>
      </p:sp>
      <p:sp>
        <p:nvSpPr>
          <p:cNvPr id="93" name="Shape 91"/>
          <p:cNvSpPr/>
          <p:nvPr/>
        </p:nvSpPr>
        <p:spPr>
          <a:xfrm>
            <a:off x="6486715" y="996695"/>
            <a:ext cx="5525" cy="2432303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4" name="Shape 92"/>
          <p:cNvSpPr/>
          <p:nvPr/>
        </p:nvSpPr>
        <p:spPr>
          <a:xfrm>
            <a:off x="6492240" y="996696"/>
            <a:ext cx="2183892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pSp>
        <p:nvGrpSpPr>
          <p:cNvPr id="103" name="Ομάδα 102">
            <a:extLst>
              <a:ext uri="{FF2B5EF4-FFF2-40B4-BE49-F238E27FC236}">
                <a16:creationId xmlns:a16="http://schemas.microsoft.com/office/drawing/2014/main" id="{FB694AB8-6D44-DD15-548A-CF629C952B91}"/>
              </a:ext>
            </a:extLst>
          </p:cNvPr>
          <p:cNvGrpSpPr/>
          <p:nvPr/>
        </p:nvGrpSpPr>
        <p:grpSpPr>
          <a:xfrm>
            <a:off x="8599336" y="701802"/>
            <a:ext cx="3336036" cy="566928"/>
            <a:chOff x="8627364" y="749808"/>
            <a:chExt cx="3336036" cy="566928"/>
          </a:xfrm>
        </p:grpSpPr>
        <p:sp>
          <p:nvSpPr>
            <p:cNvPr id="77" name="Shape 75"/>
            <p:cNvSpPr/>
            <p:nvPr/>
          </p:nvSpPr>
          <p:spPr>
            <a:xfrm>
              <a:off x="8683751" y="749808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/>
            </a:p>
          </p:txBody>
        </p:sp>
        <p:sp>
          <p:nvSpPr>
            <p:cNvPr id="78" name="Shape 76"/>
            <p:cNvSpPr/>
            <p:nvPr/>
          </p:nvSpPr>
          <p:spPr>
            <a:xfrm>
              <a:off x="8683752" y="749808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9" name="Shape 77"/>
            <p:cNvSpPr/>
            <p:nvPr/>
          </p:nvSpPr>
          <p:spPr>
            <a:xfrm>
              <a:off x="8729472" y="749808"/>
              <a:ext cx="54864" cy="5669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1" name="Text 79"/>
            <p:cNvSpPr/>
            <p:nvPr/>
          </p:nvSpPr>
          <p:spPr>
            <a:xfrm>
              <a:off x="10436924" y="810958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SEN0134</a:t>
              </a:r>
              <a:endParaRPr lang="en-US" sz="7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8839200" y="804672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Steam Sensor</a:t>
              </a:r>
              <a:endParaRPr lang="en-US" sz="95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8830056" y="1044702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800" dirty="0">
                  <a:solidFill>
                    <a:srgbClr val="444444"/>
                  </a:solidFill>
                </a:rPr>
                <a:t>Αισθητήρας: Βροχής</a:t>
              </a:r>
              <a:endParaRPr lang="en-US" sz="8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10436924" y="809815"/>
              <a:ext cx="594360" cy="18288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5" name="Text 83"/>
            <p:cNvSpPr/>
            <p:nvPr/>
          </p:nvSpPr>
          <p:spPr>
            <a:xfrm>
              <a:off x="10436924" y="809815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ΑΝΑΛΟΓΙΚΟ</a:t>
              </a:r>
              <a:endParaRPr lang="en-US" sz="6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11117708" y="810958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7" name="Text 85"/>
            <p:cNvSpPr/>
            <p:nvPr/>
          </p:nvSpPr>
          <p:spPr>
            <a:xfrm>
              <a:off x="11113580" y="810958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A0</a:t>
              </a:r>
              <a:endParaRPr lang="en-US" sz="65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8627364" y="996442"/>
              <a:ext cx="100584" cy="1005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30" name="Ομάδα 229">
            <a:extLst>
              <a:ext uri="{FF2B5EF4-FFF2-40B4-BE49-F238E27FC236}">
                <a16:creationId xmlns:a16="http://schemas.microsoft.com/office/drawing/2014/main" id="{49D5A4F6-B893-3DBC-303A-B9F16A69F0A3}"/>
              </a:ext>
            </a:extLst>
          </p:cNvPr>
          <p:cNvGrpSpPr/>
          <p:nvPr/>
        </p:nvGrpSpPr>
        <p:grpSpPr>
          <a:xfrm>
            <a:off x="7356348" y="914400"/>
            <a:ext cx="512064" cy="182880"/>
            <a:chOff x="6236208" y="1540764"/>
            <a:chExt cx="512064" cy="182880"/>
          </a:xfrm>
        </p:grpSpPr>
        <p:sp>
          <p:nvSpPr>
            <p:cNvPr id="97" name="Shape 95"/>
            <p:cNvSpPr/>
            <p:nvPr/>
          </p:nvSpPr>
          <p:spPr>
            <a:xfrm>
              <a:off x="6236208" y="1540764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8" name="Text 96"/>
            <p:cNvSpPr/>
            <p:nvPr/>
          </p:nvSpPr>
          <p:spPr>
            <a:xfrm>
              <a:off x="6236208" y="1540764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1"/>
                  </a:solidFill>
                </a:rPr>
                <a:t>A0</a:t>
              </a:r>
              <a:endParaRPr lang="en-US" sz="65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36" name="Shape 134"/>
          <p:cNvSpPr/>
          <p:nvPr/>
        </p:nvSpPr>
        <p:spPr>
          <a:xfrm flipV="1">
            <a:off x="2157411" y="3429000"/>
            <a:ext cx="4347020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39" name="Shape 137"/>
          <p:cNvSpPr/>
          <p:nvPr/>
        </p:nvSpPr>
        <p:spPr>
          <a:xfrm>
            <a:off x="2089404" y="3389201"/>
            <a:ext cx="100584" cy="1005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9" name="Shape 157"/>
          <p:cNvSpPr/>
          <p:nvPr/>
        </p:nvSpPr>
        <p:spPr>
          <a:xfrm flipH="1">
            <a:off x="4050789" y="3656076"/>
            <a:ext cx="15621" cy="1287014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1" name="Shape 159"/>
          <p:cNvSpPr/>
          <p:nvPr/>
        </p:nvSpPr>
        <p:spPr>
          <a:xfrm>
            <a:off x="2082801" y="3605784"/>
            <a:ext cx="100584" cy="10058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7" name="Text 145"/>
          <p:cNvSpPr/>
          <p:nvPr/>
        </p:nvSpPr>
        <p:spPr>
          <a:xfrm>
            <a:off x="11068216" y="266766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SEN0177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8809648" y="266766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grpSp>
        <p:nvGrpSpPr>
          <p:cNvPr id="186" name="Ομάδα 185">
            <a:extLst>
              <a:ext uri="{FF2B5EF4-FFF2-40B4-BE49-F238E27FC236}">
                <a16:creationId xmlns:a16="http://schemas.microsoft.com/office/drawing/2014/main" id="{DD1C5344-4FC6-4220-59EF-B01FDE4E98F3}"/>
              </a:ext>
            </a:extLst>
          </p:cNvPr>
          <p:cNvGrpSpPr/>
          <p:nvPr/>
        </p:nvGrpSpPr>
        <p:grpSpPr>
          <a:xfrm>
            <a:off x="292703" y="6126480"/>
            <a:ext cx="3474530" cy="530352"/>
            <a:chOff x="292608" y="6117336"/>
            <a:chExt cx="3474530" cy="530352"/>
          </a:xfrm>
        </p:grpSpPr>
        <p:sp>
          <p:nvSpPr>
            <p:cNvPr id="165" name="Shape 163"/>
            <p:cNvSpPr/>
            <p:nvPr/>
          </p:nvSpPr>
          <p:spPr>
            <a:xfrm>
              <a:off x="292608" y="6117336"/>
              <a:ext cx="3474530" cy="530352"/>
            </a:xfrm>
            <a:prstGeom prst="roundRect">
              <a:avLst>
                <a:gd name="adj" fmla="val 12069"/>
              </a:avLst>
            </a:prstGeom>
            <a:solidFill>
              <a:srgbClr val="EBF5FB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6" name="Text 164"/>
            <p:cNvSpPr/>
            <p:nvPr/>
          </p:nvSpPr>
          <p:spPr>
            <a:xfrm>
              <a:off x="384048" y="6117336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1F4E79"/>
                  </a:solidFill>
                </a:rPr>
                <a:t>Υπόμνημα</a:t>
              </a:r>
              <a:endParaRPr lang="en-US" sz="750" dirty="0"/>
            </a:p>
          </p:txBody>
        </p:sp>
        <p:sp>
          <p:nvSpPr>
            <p:cNvPr id="167" name="Shape 165"/>
            <p:cNvSpPr/>
            <p:nvPr/>
          </p:nvSpPr>
          <p:spPr>
            <a:xfrm>
              <a:off x="384048" y="6311010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8" name="Text 166"/>
            <p:cNvSpPr/>
            <p:nvPr/>
          </p:nvSpPr>
          <p:spPr>
            <a:xfrm>
              <a:off x="703174" y="6283578"/>
              <a:ext cx="87416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Αναλογικό</a:t>
              </a:r>
              <a:r>
                <a:rPr lang="en-US" sz="700" dirty="0">
                  <a:solidFill>
                    <a:srgbClr val="333333"/>
                  </a:solidFill>
                </a:rPr>
                <a:t> 3-pin Gravity</a:t>
              </a:r>
              <a:endParaRPr lang="en-US" sz="700" dirty="0"/>
            </a:p>
          </p:txBody>
        </p:sp>
        <p:sp>
          <p:nvSpPr>
            <p:cNvPr id="171" name="Shape 169"/>
            <p:cNvSpPr/>
            <p:nvPr/>
          </p:nvSpPr>
          <p:spPr>
            <a:xfrm>
              <a:off x="384048" y="6499733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2" name="Text 170"/>
            <p:cNvSpPr/>
            <p:nvPr/>
          </p:nvSpPr>
          <p:spPr>
            <a:xfrm>
              <a:off x="720420" y="6472301"/>
              <a:ext cx="87782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Αναλογικό </a:t>
              </a:r>
              <a:r>
                <a:rPr lang="en-US" sz="700" dirty="0">
                  <a:solidFill>
                    <a:srgbClr val="333333"/>
                  </a:solidFill>
                </a:rPr>
                <a:t>pin</a:t>
              </a:r>
              <a:endParaRPr lang="en-US" sz="700" dirty="0"/>
            </a:p>
          </p:txBody>
        </p:sp>
        <p:sp>
          <p:nvSpPr>
            <p:cNvPr id="169" name="Shape 167"/>
            <p:cNvSpPr/>
            <p:nvPr/>
          </p:nvSpPr>
          <p:spPr>
            <a:xfrm>
              <a:off x="1666952" y="6312661"/>
              <a:ext cx="274320" cy="106426"/>
            </a:xfrm>
            <a:prstGeom prst="roundRect">
              <a:avLst>
                <a:gd name="adj" fmla="val 3333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0" name="Text 168"/>
            <p:cNvSpPr/>
            <p:nvPr/>
          </p:nvSpPr>
          <p:spPr>
            <a:xfrm>
              <a:off x="1986078" y="6286055"/>
              <a:ext cx="823796" cy="1596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Ψηφιακό</a:t>
              </a:r>
              <a:r>
                <a:rPr lang="en-US" sz="700" dirty="0">
                  <a:solidFill>
                    <a:srgbClr val="333333"/>
                  </a:solidFill>
                </a:rPr>
                <a:t> 3-pin Gravity</a:t>
              </a:r>
              <a:endParaRPr lang="en-US" sz="700" dirty="0"/>
            </a:p>
          </p:txBody>
        </p:sp>
        <p:sp>
          <p:nvSpPr>
            <p:cNvPr id="173" name="Shape 171"/>
            <p:cNvSpPr/>
            <p:nvPr/>
          </p:nvSpPr>
          <p:spPr>
            <a:xfrm>
              <a:off x="1660296" y="6501384"/>
              <a:ext cx="274320" cy="106426"/>
            </a:xfrm>
            <a:prstGeom prst="roundRect">
              <a:avLst>
                <a:gd name="adj" fmla="val 33333"/>
              </a:avLst>
            </a:prstGeom>
            <a:solidFill>
              <a:srgbClr val="FF0000"/>
            </a:solidFill>
            <a:ln w="12700">
              <a:solidFill>
                <a:srgbClr val="FF0000"/>
              </a:solidFill>
              <a:prstDash val="solid"/>
            </a:ln>
          </p:spPr>
          <p:txBody>
            <a:bodyPr vert="wordArtVert" anchor="ctr"/>
            <a:lstStyle/>
            <a:p>
              <a:endParaRPr lang="el-GR" sz="800" dirty="0"/>
            </a:p>
          </p:txBody>
        </p:sp>
        <p:sp>
          <p:nvSpPr>
            <p:cNvPr id="174" name="Text 172"/>
            <p:cNvSpPr/>
            <p:nvPr/>
          </p:nvSpPr>
          <p:spPr>
            <a:xfrm>
              <a:off x="1996668" y="6472301"/>
              <a:ext cx="88296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700" dirty="0">
                  <a:solidFill>
                    <a:srgbClr val="333333"/>
                  </a:solidFill>
                </a:rPr>
                <a:t>Εξωτερική Τροφοδοσία</a:t>
              </a:r>
              <a:endParaRPr lang="en-US" sz="700" dirty="0"/>
            </a:p>
          </p:txBody>
        </p:sp>
        <p:sp>
          <p:nvSpPr>
            <p:cNvPr id="180" name="Shape 167">
              <a:extLst>
                <a:ext uri="{FF2B5EF4-FFF2-40B4-BE49-F238E27FC236}">
                  <a16:creationId xmlns:a16="http://schemas.microsoft.com/office/drawing/2014/main" id="{E5434706-2861-3EAC-897B-979716036D54}"/>
                </a:ext>
              </a:extLst>
            </p:cNvPr>
            <p:cNvSpPr/>
            <p:nvPr/>
          </p:nvSpPr>
          <p:spPr>
            <a:xfrm>
              <a:off x="2910740" y="6311010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1" name="Text 168">
              <a:extLst>
                <a:ext uri="{FF2B5EF4-FFF2-40B4-BE49-F238E27FC236}">
                  <a16:creationId xmlns:a16="http://schemas.microsoft.com/office/drawing/2014/main" id="{4E5CAD0A-CB55-B4C4-9C7A-8315F11D57DB}"/>
                </a:ext>
              </a:extLst>
            </p:cNvPr>
            <p:cNvSpPr/>
            <p:nvPr/>
          </p:nvSpPr>
          <p:spPr>
            <a:xfrm>
              <a:off x="3229864" y="6283578"/>
              <a:ext cx="53727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Ψηφιακό</a:t>
              </a:r>
              <a:r>
                <a:rPr lang="en-US" sz="700" dirty="0">
                  <a:solidFill>
                    <a:srgbClr val="333333"/>
                  </a:solidFill>
                </a:rPr>
                <a:t> I2C</a:t>
              </a:r>
              <a:endParaRPr lang="en-US" sz="700" dirty="0"/>
            </a:p>
          </p:txBody>
        </p:sp>
        <p:sp>
          <p:nvSpPr>
            <p:cNvPr id="182" name="Shape 171">
              <a:extLst>
                <a:ext uri="{FF2B5EF4-FFF2-40B4-BE49-F238E27FC236}">
                  <a16:creationId xmlns:a16="http://schemas.microsoft.com/office/drawing/2014/main" id="{94FC3F6B-054D-7008-38B5-2E09008ACD01}"/>
                </a:ext>
              </a:extLst>
            </p:cNvPr>
            <p:cNvSpPr/>
            <p:nvPr/>
          </p:nvSpPr>
          <p:spPr>
            <a:xfrm>
              <a:off x="2910740" y="6501384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3" name="Text 172">
              <a:extLst>
                <a:ext uri="{FF2B5EF4-FFF2-40B4-BE49-F238E27FC236}">
                  <a16:creationId xmlns:a16="http://schemas.microsoft.com/office/drawing/2014/main" id="{D98A3C02-1C5B-23E6-58F2-8B90AFA76818}"/>
                </a:ext>
              </a:extLst>
            </p:cNvPr>
            <p:cNvSpPr/>
            <p:nvPr/>
          </p:nvSpPr>
          <p:spPr>
            <a:xfrm>
              <a:off x="3229864" y="6472301"/>
              <a:ext cx="53727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Γείωση</a:t>
              </a:r>
              <a:r>
                <a:rPr lang="en-US" sz="700" dirty="0">
                  <a:solidFill>
                    <a:srgbClr val="333333"/>
                  </a:solidFill>
                </a:rPr>
                <a:t> GND</a:t>
              </a:r>
              <a:endParaRPr lang="en-US" sz="700" dirty="0"/>
            </a:p>
          </p:txBody>
        </p:sp>
      </p:grpSp>
      <p:grpSp>
        <p:nvGrpSpPr>
          <p:cNvPr id="104" name="Ομάδα 103">
            <a:extLst>
              <a:ext uri="{FF2B5EF4-FFF2-40B4-BE49-F238E27FC236}">
                <a16:creationId xmlns:a16="http://schemas.microsoft.com/office/drawing/2014/main" id="{BF4ADF84-8717-02EE-5B8C-9B7D90C3EBDD}"/>
              </a:ext>
            </a:extLst>
          </p:cNvPr>
          <p:cNvGrpSpPr/>
          <p:nvPr/>
        </p:nvGrpSpPr>
        <p:grpSpPr>
          <a:xfrm>
            <a:off x="8599336" y="1348740"/>
            <a:ext cx="3329940" cy="566928"/>
            <a:chOff x="8633460" y="1472184"/>
            <a:chExt cx="3329940" cy="566928"/>
          </a:xfrm>
        </p:grpSpPr>
        <p:sp>
          <p:nvSpPr>
            <p:cNvPr id="190" name="Shape 75">
              <a:extLst>
                <a:ext uri="{FF2B5EF4-FFF2-40B4-BE49-F238E27FC236}">
                  <a16:creationId xmlns:a16="http://schemas.microsoft.com/office/drawing/2014/main" id="{2C602184-79E0-2E80-4048-214AB3ED0371}"/>
                </a:ext>
              </a:extLst>
            </p:cNvPr>
            <p:cNvSpPr/>
            <p:nvPr/>
          </p:nvSpPr>
          <p:spPr>
            <a:xfrm>
              <a:off x="8683751" y="147218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 dirty="0"/>
            </a:p>
          </p:txBody>
        </p:sp>
        <p:sp>
          <p:nvSpPr>
            <p:cNvPr id="192" name="Shape 76">
              <a:extLst>
                <a:ext uri="{FF2B5EF4-FFF2-40B4-BE49-F238E27FC236}">
                  <a16:creationId xmlns:a16="http://schemas.microsoft.com/office/drawing/2014/main" id="{08086408-3870-45D1-6E77-32E0581D1085}"/>
                </a:ext>
              </a:extLst>
            </p:cNvPr>
            <p:cNvSpPr/>
            <p:nvPr/>
          </p:nvSpPr>
          <p:spPr>
            <a:xfrm>
              <a:off x="8683752" y="147218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3" name="Shape 77">
              <a:extLst>
                <a:ext uri="{FF2B5EF4-FFF2-40B4-BE49-F238E27FC236}">
                  <a16:creationId xmlns:a16="http://schemas.microsoft.com/office/drawing/2014/main" id="{FE4F6B59-2832-2CE0-8CD5-2B9637DF4EBF}"/>
                </a:ext>
              </a:extLst>
            </p:cNvPr>
            <p:cNvSpPr/>
            <p:nvPr/>
          </p:nvSpPr>
          <p:spPr>
            <a:xfrm>
              <a:off x="8729472" y="1472184"/>
              <a:ext cx="54864" cy="5669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4" name="Text 79">
              <a:extLst>
                <a:ext uri="{FF2B5EF4-FFF2-40B4-BE49-F238E27FC236}">
                  <a16:creationId xmlns:a16="http://schemas.microsoft.com/office/drawing/2014/main" id="{B5EC5B6D-04CF-6EA1-C485-991B7312D11D}"/>
                </a:ext>
              </a:extLst>
            </p:cNvPr>
            <p:cNvSpPr/>
            <p:nvPr/>
          </p:nvSpPr>
          <p:spPr>
            <a:xfrm>
              <a:off x="10441052" y="1527048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SEN0134</a:t>
              </a:r>
              <a:endParaRPr lang="en-US" sz="700" dirty="0"/>
            </a:p>
          </p:txBody>
        </p:sp>
        <p:sp>
          <p:nvSpPr>
            <p:cNvPr id="195" name="Text 80">
              <a:extLst>
                <a:ext uri="{FF2B5EF4-FFF2-40B4-BE49-F238E27FC236}">
                  <a16:creationId xmlns:a16="http://schemas.microsoft.com/office/drawing/2014/main" id="{3E5F7621-996C-23B2-3576-AE9FCDEA9278}"/>
                </a:ext>
              </a:extLst>
            </p:cNvPr>
            <p:cNvSpPr/>
            <p:nvPr/>
          </p:nvSpPr>
          <p:spPr>
            <a:xfrm>
              <a:off x="8839200" y="152704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Anemometer</a:t>
              </a:r>
              <a:endParaRPr lang="en-US" sz="950" dirty="0"/>
            </a:p>
          </p:txBody>
        </p:sp>
        <p:sp>
          <p:nvSpPr>
            <p:cNvPr id="196" name="Text 81">
              <a:extLst>
                <a:ext uri="{FF2B5EF4-FFF2-40B4-BE49-F238E27FC236}">
                  <a16:creationId xmlns:a16="http://schemas.microsoft.com/office/drawing/2014/main" id="{A3A40809-4B62-1134-9CA3-83E2F265B845}"/>
                </a:ext>
              </a:extLst>
            </p:cNvPr>
            <p:cNvSpPr/>
            <p:nvPr/>
          </p:nvSpPr>
          <p:spPr>
            <a:xfrm>
              <a:off x="8830056" y="176707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800" dirty="0">
                  <a:solidFill>
                    <a:srgbClr val="444444"/>
                  </a:solidFill>
                </a:rPr>
                <a:t>Αισθητήρας ταχύτητας ανέμου</a:t>
              </a:r>
              <a:endParaRPr lang="en-US" sz="800" dirty="0"/>
            </a:p>
          </p:txBody>
        </p:sp>
        <p:sp>
          <p:nvSpPr>
            <p:cNvPr id="197" name="Shape 82">
              <a:extLst>
                <a:ext uri="{FF2B5EF4-FFF2-40B4-BE49-F238E27FC236}">
                  <a16:creationId xmlns:a16="http://schemas.microsoft.com/office/drawing/2014/main" id="{4B69CE1C-A48C-183B-F886-A3D8C8F111C1}"/>
                </a:ext>
              </a:extLst>
            </p:cNvPr>
            <p:cNvSpPr/>
            <p:nvPr/>
          </p:nvSpPr>
          <p:spPr>
            <a:xfrm>
              <a:off x="10436924" y="1525905"/>
              <a:ext cx="594360" cy="18288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8" name="Text 83">
              <a:extLst>
                <a:ext uri="{FF2B5EF4-FFF2-40B4-BE49-F238E27FC236}">
                  <a16:creationId xmlns:a16="http://schemas.microsoft.com/office/drawing/2014/main" id="{0D09995B-8E44-819D-3C3C-2F44F1C88C74}"/>
                </a:ext>
              </a:extLst>
            </p:cNvPr>
            <p:cNvSpPr/>
            <p:nvPr/>
          </p:nvSpPr>
          <p:spPr>
            <a:xfrm>
              <a:off x="10441052" y="1525905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ΑΝΑΓΟΓΙΚΟ</a:t>
              </a:r>
              <a:endParaRPr lang="en-US" sz="650" dirty="0"/>
            </a:p>
          </p:txBody>
        </p:sp>
        <p:sp>
          <p:nvSpPr>
            <p:cNvPr id="199" name="Shape 84">
              <a:extLst>
                <a:ext uri="{FF2B5EF4-FFF2-40B4-BE49-F238E27FC236}">
                  <a16:creationId xmlns:a16="http://schemas.microsoft.com/office/drawing/2014/main" id="{A97F3A6B-3CD7-6B28-C0E3-DA99A1ED92DB}"/>
                </a:ext>
              </a:extLst>
            </p:cNvPr>
            <p:cNvSpPr/>
            <p:nvPr/>
          </p:nvSpPr>
          <p:spPr>
            <a:xfrm>
              <a:off x="11117708" y="1527048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0" name="Text 85">
              <a:extLst>
                <a:ext uri="{FF2B5EF4-FFF2-40B4-BE49-F238E27FC236}">
                  <a16:creationId xmlns:a16="http://schemas.microsoft.com/office/drawing/2014/main" id="{B9B12022-4F20-19FD-7879-9AC1D54DA138}"/>
                </a:ext>
              </a:extLst>
            </p:cNvPr>
            <p:cNvSpPr/>
            <p:nvPr/>
          </p:nvSpPr>
          <p:spPr>
            <a:xfrm>
              <a:off x="11117708" y="1527048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A</a:t>
              </a:r>
              <a:r>
                <a:rPr lang="el-GR" sz="650" b="1" dirty="0">
                  <a:solidFill>
                    <a:srgbClr val="2C3E50"/>
                  </a:solidFill>
                </a:rPr>
                <a:t>1</a:t>
              </a:r>
              <a:endParaRPr lang="en-US" sz="650" dirty="0"/>
            </a:p>
          </p:txBody>
        </p:sp>
        <p:sp>
          <p:nvSpPr>
            <p:cNvPr id="2" name="Shape 94">
              <a:extLst>
                <a:ext uri="{FF2B5EF4-FFF2-40B4-BE49-F238E27FC236}">
                  <a16:creationId xmlns:a16="http://schemas.microsoft.com/office/drawing/2014/main" id="{2D16DE10-F77B-3F75-8397-D4864538BCDA}"/>
                </a:ext>
              </a:extLst>
            </p:cNvPr>
            <p:cNvSpPr/>
            <p:nvPr/>
          </p:nvSpPr>
          <p:spPr>
            <a:xfrm>
              <a:off x="8633460" y="1673352"/>
              <a:ext cx="100584" cy="1005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28" name="Shape 92">
            <a:extLst>
              <a:ext uri="{FF2B5EF4-FFF2-40B4-BE49-F238E27FC236}">
                <a16:creationId xmlns:a16="http://schemas.microsoft.com/office/drawing/2014/main" id="{9F1DB320-0C23-A713-8938-258D845FBCF5}"/>
              </a:ext>
            </a:extLst>
          </p:cNvPr>
          <p:cNvSpPr/>
          <p:nvPr/>
        </p:nvSpPr>
        <p:spPr>
          <a:xfrm>
            <a:off x="6486715" y="1600200"/>
            <a:ext cx="2183892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pSp>
        <p:nvGrpSpPr>
          <p:cNvPr id="229" name="Ομάδα 228">
            <a:extLst>
              <a:ext uri="{FF2B5EF4-FFF2-40B4-BE49-F238E27FC236}">
                <a16:creationId xmlns:a16="http://schemas.microsoft.com/office/drawing/2014/main" id="{51F2A572-125D-5A26-4289-516BCD702E5E}"/>
              </a:ext>
            </a:extLst>
          </p:cNvPr>
          <p:cNvGrpSpPr/>
          <p:nvPr/>
        </p:nvGrpSpPr>
        <p:grpSpPr>
          <a:xfrm>
            <a:off x="7338059" y="1508760"/>
            <a:ext cx="512064" cy="182880"/>
            <a:chOff x="6236208" y="2814066"/>
            <a:chExt cx="512064" cy="182880"/>
          </a:xfrm>
        </p:grpSpPr>
        <p:sp>
          <p:nvSpPr>
            <p:cNvPr id="119" name="Shape 117"/>
            <p:cNvSpPr/>
            <p:nvPr/>
          </p:nvSpPr>
          <p:spPr>
            <a:xfrm>
              <a:off x="6236208" y="2814066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0" name="Text 118"/>
            <p:cNvSpPr/>
            <p:nvPr/>
          </p:nvSpPr>
          <p:spPr>
            <a:xfrm>
              <a:off x="6236208" y="2814066"/>
              <a:ext cx="5120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1"/>
                  </a:solidFill>
                </a:rPr>
                <a:t>A1</a:t>
              </a:r>
              <a:endParaRPr lang="en-US" sz="6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2" name="Ομάδα 131">
            <a:extLst>
              <a:ext uri="{FF2B5EF4-FFF2-40B4-BE49-F238E27FC236}">
                <a16:creationId xmlns:a16="http://schemas.microsoft.com/office/drawing/2014/main" id="{858F64EC-3D9A-F65E-28C7-EEC506F0AB55}"/>
              </a:ext>
            </a:extLst>
          </p:cNvPr>
          <p:cNvGrpSpPr/>
          <p:nvPr/>
        </p:nvGrpSpPr>
        <p:grpSpPr>
          <a:xfrm>
            <a:off x="8599336" y="3981225"/>
            <a:ext cx="3329940" cy="566928"/>
            <a:chOff x="8633460" y="2295144"/>
            <a:chExt cx="3329940" cy="566928"/>
          </a:xfrm>
        </p:grpSpPr>
        <p:sp>
          <p:nvSpPr>
            <p:cNvPr id="133" name="Shape 75">
              <a:extLst>
                <a:ext uri="{FF2B5EF4-FFF2-40B4-BE49-F238E27FC236}">
                  <a16:creationId xmlns:a16="http://schemas.microsoft.com/office/drawing/2014/main" id="{3EA6AE1D-EA67-8773-5475-D24698A975EA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/>
            </a:p>
          </p:txBody>
        </p:sp>
        <p:sp>
          <p:nvSpPr>
            <p:cNvPr id="134" name="Shape 76">
              <a:extLst>
                <a:ext uri="{FF2B5EF4-FFF2-40B4-BE49-F238E27FC236}">
                  <a16:creationId xmlns:a16="http://schemas.microsoft.com/office/drawing/2014/main" id="{7180E9F8-3360-E157-5244-0298AACDF5AC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5" name="Shape 77">
              <a:extLst>
                <a:ext uri="{FF2B5EF4-FFF2-40B4-BE49-F238E27FC236}">
                  <a16:creationId xmlns:a16="http://schemas.microsoft.com/office/drawing/2014/main" id="{D8E5FE92-CFB9-E2FC-F802-4BA9CC519B1E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8" name="Text 80">
              <a:extLst>
                <a:ext uri="{FF2B5EF4-FFF2-40B4-BE49-F238E27FC236}">
                  <a16:creationId xmlns:a16="http://schemas.microsoft.com/office/drawing/2014/main" id="{0295672B-2751-4390-752B-FBEAEA2B9BE8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b="1" dirty="0">
                  <a:solidFill>
                    <a:srgbClr val="1F4E79"/>
                  </a:solidFill>
                </a:rPr>
                <a:t>2x Micro Metal Gear Motor</a:t>
              </a:r>
              <a:endParaRPr lang="en-US" sz="950" dirty="0"/>
            </a:p>
          </p:txBody>
        </p:sp>
        <p:sp>
          <p:nvSpPr>
            <p:cNvPr id="175" name="Text 81">
              <a:extLst>
                <a:ext uri="{FF2B5EF4-FFF2-40B4-BE49-F238E27FC236}">
                  <a16:creationId xmlns:a16="http://schemas.microsoft.com/office/drawing/2014/main" id="{EA1C0E07-B732-CFCC-3209-D57216983843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800" dirty="0">
                  <a:solidFill>
                    <a:srgbClr val="444444"/>
                  </a:solidFill>
                </a:rPr>
                <a:t>Κινητήρας με γρανάζια 75:1</a:t>
              </a:r>
              <a:endParaRPr lang="en-US" sz="800" dirty="0"/>
            </a:p>
          </p:txBody>
        </p:sp>
        <p:grpSp>
          <p:nvGrpSpPr>
            <p:cNvPr id="176" name="Ομάδα 175">
              <a:extLst>
                <a:ext uri="{FF2B5EF4-FFF2-40B4-BE49-F238E27FC236}">
                  <a16:creationId xmlns:a16="http://schemas.microsoft.com/office/drawing/2014/main" id="{C02246A8-A343-5C06-7463-C1E68AAC250D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178" name="Text 79">
                <a:extLst>
                  <a:ext uri="{FF2B5EF4-FFF2-40B4-BE49-F238E27FC236}">
                    <a16:creationId xmlns:a16="http://schemas.microsoft.com/office/drawing/2014/main" id="{214BBF07-C96B-1489-568C-473C0C23F119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179" name="Shape 82">
                <a:extLst>
                  <a:ext uri="{FF2B5EF4-FFF2-40B4-BE49-F238E27FC236}">
                    <a16:creationId xmlns:a16="http://schemas.microsoft.com/office/drawing/2014/main" id="{E1F9B082-7A90-DFC1-8BC4-E79B1ED9C311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84" name="Text 83">
                <a:extLst>
                  <a:ext uri="{FF2B5EF4-FFF2-40B4-BE49-F238E27FC236}">
                    <a16:creationId xmlns:a16="http://schemas.microsoft.com/office/drawing/2014/main" id="{F17603DF-9014-E192-601E-8EDA57E9AF4B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185" name="Shape 84">
                <a:extLst>
                  <a:ext uri="{FF2B5EF4-FFF2-40B4-BE49-F238E27FC236}">
                    <a16:creationId xmlns:a16="http://schemas.microsoft.com/office/drawing/2014/main" id="{02290957-69A5-25AE-BA60-CD625DD88F08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12" name="Text 85">
                <a:extLst>
                  <a:ext uri="{FF2B5EF4-FFF2-40B4-BE49-F238E27FC236}">
                    <a16:creationId xmlns:a16="http://schemas.microsoft.com/office/drawing/2014/main" id="{58E9885F-EE88-6557-6AFE-F3B04F99572D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D9 + D10</a:t>
                </a:r>
                <a:endParaRPr lang="en-US" sz="650" dirty="0"/>
              </a:p>
            </p:txBody>
          </p:sp>
        </p:grpSp>
        <p:sp>
          <p:nvSpPr>
            <p:cNvPr id="177" name="Shape 94">
              <a:extLst>
                <a:ext uri="{FF2B5EF4-FFF2-40B4-BE49-F238E27FC236}">
                  <a16:creationId xmlns:a16="http://schemas.microsoft.com/office/drawing/2014/main" id="{2B0E5127-3B58-9B07-6DB4-9EB3838C6031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26" name="Shape 158">
            <a:extLst>
              <a:ext uri="{FF2B5EF4-FFF2-40B4-BE49-F238E27FC236}">
                <a16:creationId xmlns:a16="http://schemas.microsoft.com/office/drawing/2014/main" id="{3E04ED76-615A-5DEC-10B5-8839524BE13B}"/>
              </a:ext>
            </a:extLst>
          </p:cNvPr>
          <p:cNvSpPr/>
          <p:nvPr/>
        </p:nvSpPr>
        <p:spPr>
          <a:xfrm>
            <a:off x="4050791" y="4272371"/>
            <a:ext cx="4583216" cy="6447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pSp>
        <p:nvGrpSpPr>
          <p:cNvPr id="238" name="Ομάδα 237">
            <a:extLst>
              <a:ext uri="{FF2B5EF4-FFF2-40B4-BE49-F238E27FC236}">
                <a16:creationId xmlns:a16="http://schemas.microsoft.com/office/drawing/2014/main" id="{7F42E671-5E4A-48A3-AA9C-190D01E85AA4}"/>
              </a:ext>
            </a:extLst>
          </p:cNvPr>
          <p:cNvGrpSpPr/>
          <p:nvPr/>
        </p:nvGrpSpPr>
        <p:grpSpPr>
          <a:xfrm>
            <a:off x="7362825" y="4180932"/>
            <a:ext cx="512064" cy="182880"/>
            <a:chOff x="6236208" y="4085082"/>
            <a:chExt cx="512064" cy="182880"/>
          </a:xfrm>
        </p:grpSpPr>
        <p:sp>
          <p:nvSpPr>
            <p:cNvPr id="239" name="Shape 161">
              <a:extLst>
                <a:ext uri="{FF2B5EF4-FFF2-40B4-BE49-F238E27FC236}">
                  <a16:creationId xmlns:a16="http://schemas.microsoft.com/office/drawing/2014/main" id="{A95B2ECC-7BD1-F2C0-D4E5-E36FBF2649C1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0" name="Text 162">
              <a:extLst>
                <a:ext uri="{FF2B5EF4-FFF2-40B4-BE49-F238E27FC236}">
                  <a16:creationId xmlns:a16="http://schemas.microsoft.com/office/drawing/2014/main" id="{FA5AB328-B753-1928-74F0-D990D72822A7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D6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25" name="Shape 158">
            <a:extLst>
              <a:ext uri="{FF2B5EF4-FFF2-40B4-BE49-F238E27FC236}">
                <a16:creationId xmlns:a16="http://schemas.microsoft.com/office/drawing/2014/main" id="{7A169D2E-13C1-D54B-F5D7-55F7E16CEF28}"/>
              </a:ext>
            </a:extLst>
          </p:cNvPr>
          <p:cNvSpPr/>
          <p:nvPr/>
        </p:nvSpPr>
        <p:spPr>
          <a:xfrm>
            <a:off x="4037586" y="4943090"/>
            <a:ext cx="4601943" cy="15557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pSp>
        <p:nvGrpSpPr>
          <p:cNvPr id="213" name="Ομάδα 212">
            <a:extLst>
              <a:ext uri="{FF2B5EF4-FFF2-40B4-BE49-F238E27FC236}">
                <a16:creationId xmlns:a16="http://schemas.microsoft.com/office/drawing/2014/main" id="{B8853CE9-953F-98A9-8C9E-04C9E5027F87}"/>
              </a:ext>
            </a:extLst>
          </p:cNvPr>
          <p:cNvGrpSpPr/>
          <p:nvPr/>
        </p:nvGrpSpPr>
        <p:grpSpPr>
          <a:xfrm>
            <a:off x="8599336" y="4665692"/>
            <a:ext cx="3329940" cy="566928"/>
            <a:chOff x="8633460" y="2295144"/>
            <a:chExt cx="3329940" cy="566928"/>
          </a:xfrm>
        </p:grpSpPr>
        <p:sp>
          <p:nvSpPr>
            <p:cNvPr id="214" name="Shape 75">
              <a:extLst>
                <a:ext uri="{FF2B5EF4-FFF2-40B4-BE49-F238E27FC236}">
                  <a16:creationId xmlns:a16="http://schemas.microsoft.com/office/drawing/2014/main" id="{5DDAC886-D7EE-BFC5-76AD-C7D73170F920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/>
            </a:p>
          </p:txBody>
        </p:sp>
        <p:sp>
          <p:nvSpPr>
            <p:cNvPr id="215" name="Shape 76">
              <a:extLst>
                <a:ext uri="{FF2B5EF4-FFF2-40B4-BE49-F238E27FC236}">
                  <a16:creationId xmlns:a16="http://schemas.microsoft.com/office/drawing/2014/main" id="{3105CBF7-5FC5-16FF-1BC3-1BFDE469B5ED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6" name="Shape 77">
              <a:extLst>
                <a:ext uri="{FF2B5EF4-FFF2-40B4-BE49-F238E27FC236}">
                  <a16:creationId xmlns:a16="http://schemas.microsoft.com/office/drawing/2014/main" id="{A7A8F81A-96C0-4B9D-CD9B-A0496B2D2C9F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7" name="Text 80">
              <a:extLst>
                <a:ext uri="{FF2B5EF4-FFF2-40B4-BE49-F238E27FC236}">
                  <a16:creationId xmlns:a16="http://schemas.microsoft.com/office/drawing/2014/main" id="{C606B86F-3367-766B-1BD0-015254AAFEA5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16x2 LCD</a:t>
              </a:r>
              <a:endParaRPr lang="en-US" sz="950" dirty="0"/>
            </a:p>
          </p:txBody>
        </p:sp>
        <p:sp>
          <p:nvSpPr>
            <p:cNvPr id="218" name="Text 81">
              <a:extLst>
                <a:ext uri="{FF2B5EF4-FFF2-40B4-BE49-F238E27FC236}">
                  <a16:creationId xmlns:a16="http://schemas.microsoft.com/office/drawing/2014/main" id="{7C83D272-8C9E-5E24-F2D6-7D4071E8397C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>
                  <a:solidFill>
                    <a:srgbClr val="444444"/>
                  </a:solidFill>
                </a:rPr>
                <a:t>LCD with RGB backlight</a:t>
              </a:r>
              <a:endParaRPr lang="en-US" sz="800" dirty="0"/>
            </a:p>
          </p:txBody>
        </p:sp>
        <p:grpSp>
          <p:nvGrpSpPr>
            <p:cNvPr id="219" name="Ομάδα 218">
              <a:extLst>
                <a:ext uri="{FF2B5EF4-FFF2-40B4-BE49-F238E27FC236}">
                  <a16:creationId xmlns:a16="http://schemas.microsoft.com/office/drawing/2014/main" id="{D4F4BCDF-EE4F-28B4-4364-74FF4472CE6E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21" name="Text 79">
                <a:extLst>
                  <a:ext uri="{FF2B5EF4-FFF2-40B4-BE49-F238E27FC236}">
                    <a16:creationId xmlns:a16="http://schemas.microsoft.com/office/drawing/2014/main" id="{708A4CD5-66E9-5689-18C4-28FB46E0D5DC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22" name="Shape 82">
                <a:extLst>
                  <a:ext uri="{FF2B5EF4-FFF2-40B4-BE49-F238E27FC236}">
                    <a16:creationId xmlns:a16="http://schemas.microsoft.com/office/drawing/2014/main" id="{8973EC97-98FF-443C-1B40-4F2B7049BF93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/>
              </a:solidFill>
              <a:ln w="12700">
                <a:solidFill>
                  <a:schemeClr val="accent6"/>
                </a:solidFill>
                <a:prstDash val="solid"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23" name="Text 83">
                <a:extLst>
                  <a:ext uri="{FF2B5EF4-FFF2-40B4-BE49-F238E27FC236}">
                    <a16:creationId xmlns:a16="http://schemas.microsoft.com/office/drawing/2014/main" id="{1A312476-E23F-14A6-7BC3-F7BACF404FAC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24" name="Shape 84">
                <a:extLst>
                  <a:ext uri="{FF2B5EF4-FFF2-40B4-BE49-F238E27FC236}">
                    <a16:creationId xmlns:a16="http://schemas.microsoft.com/office/drawing/2014/main" id="{B29CB516-9D50-D7FA-FDCE-600032E4C583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25" name="Text 85">
                <a:extLst>
                  <a:ext uri="{FF2B5EF4-FFF2-40B4-BE49-F238E27FC236}">
                    <a16:creationId xmlns:a16="http://schemas.microsoft.com/office/drawing/2014/main" id="{1AEE5D87-0DD2-BC2A-7F09-F685ABBC1A01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I2C</a:t>
                </a:r>
                <a:endParaRPr lang="en-US" sz="650" dirty="0"/>
              </a:p>
            </p:txBody>
          </p:sp>
        </p:grpSp>
        <p:sp>
          <p:nvSpPr>
            <p:cNvPr id="220" name="Shape 94">
              <a:extLst>
                <a:ext uri="{FF2B5EF4-FFF2-40B4-BE49-F238E27FC236}">
                  <a16:creationId xmlns:a16="http://schemas.microsoft.com/office/drawing/2014/main" id="{9409DD03-C26E-212A-E4B3-3C4AA9CA99A3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41" name="Ομάδα 240">
            <a:extLst>
              <a:ext uri="{FF2B5EF4-FFF2-40B4-BE49-F238E27FC236}">
                <a16:creationId xmlns:a16="http://schemas.microsoft.com/office/drawing/2014/main" id="{75B53501-6118-E287-D207-A6D947DB600B}"/>
              </a:ext>
            </a:extLst>
          </p:cNvPr>
          <p:cNvGrpSpPr/>
          <p:nvPr/>
        </p:nvGrpSpPr>
        <p:grpSpPr>
          <a:xfrm>
            <a:off x="7356346" y="4870316"/>
            <a:ext cx="512064" cy="182880"/>
            <a:chOff x="6236208" y="4085082"/>
            <a:chExt cx="512064" cy="182880"/>
          </a:xfrm>
        </p:grpSpPr>
        <p:sp>
          <p:nvSpPr>
            <p:cNvPr id="242" name="Shape 161">
              <a:extLst>
                <a:ext uri="{FF2B5EF4-FFF2-40B4-BE49-F238E27FC236}">
                  <a16:creationId xmlns:a16="http://schemas.microsoft.com/office/drawing/2014/main" id="{44CCC6AC-2F58-0217-758C-9B05167E253C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4" name="Text 162">
              <a:extLst>
                <a:ext uri="{FF2B5EF4-FFF2-40B4-BE49-F238E27FC236}">
                  <a16:creationId xmlns:a16="http://schemas.microsoft.com/office/drawing/2014/main" id="{FB10D01B-214C-A8AB-ECE2-A61B90E8C0B6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I2C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45" name="Text 51">
            <a:extLst>
              <a:ext uri="{FF2B5EF4-FFF2-40B4-BE49-F238E27FC236}">
                <a16:creationId xmlns:a16="http://schemas.microsoft.com/office/drawing/2014/main" id="{29C148CC-378D-A24E-2F17-80E31A08BC29}"/>
              </a:ext>
            </a:extLst>
          </p:cNvPr>
          <p:cNvSpPr/>
          <p:nvPr/>
        </p:nvSpPr>
        <p:spPr>
          <a:xfrm>
            <a:off x="365760" y="213207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ΨΗΦΙΑΚΑ </a:t>
            </a:r>
            <a:r>
              <a:rPr lang="en-US" sz="600" b="1" dirty="0">
                <a:solidFill>
                  <a:srgbClr val="1F4E79"/>
                </a:solidFill>
              </a:rPr>
              <a:t>I2C</a:t>
            </a:r>
            <a:endParaRPr lang="en-US" sz="600" dirty="0"/>
          </a:p>
        </p:txBody>
      </p:sp>
      <p:sp>
        <p:nvSpPr>
          <p:cNvPr id="246" name="Shape 52">
            <a:extLst>
              <a:ext uri="{FF2B5EF4-FFF2-40B4-BE49-F238E27FC236}">
                <a16:creationId xmlns:a16="http://schemas.microsoft.com/office/drawing/2014/main" id="{1895AFE1-4C05-2564-05E1-C4048819937E}"/>
              </a:ext>
            </a:extLst>
          </p:cNvPr>
          <p:cNvSpPr/>
          <p:nvPr/>
        </p:nvSpPr>
        <p:spPr>
          <a:xfrm>
            <a:off x="365760" y="2278380"/>
            <a:ext cx="347472" cy="173736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47" name="Text 53">
            <a:extLst>
              <a:ext uri="{FF2B5EF4-FFF2-40B4-BE49-F238E27FC236}">
                <a16:creationId xmlns:a16="http://schemas.microsoft.com/office/drawing/2014/main" id="{FAEF923D-A705-8154-EF63-037F27C5C56C}"/>
              </a:ext>
            </a:extLst>
          </p:cNvPr>
          <p:cNvSpPr/>
          <p:nvPr/>
        </p:nvSpPr>
        <p:spPr>
          <a:xfrm>
            <a:off x="365760" y="227838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I2C</a:t>
            </a:r>
            <a:endParaRPr lang="en-US" sz="550" dirty="0"/>
          </a:p>
        </p:txBody>
      </p:sp>
      <p:sp>
        <p:nvSpPr>
          <p:cNvPr id="248" name="Shape 54">
            <a:extLst>
              <a:ext uri="{FF2B5EF4-FFF2-40B4-BE49-F238E27FC236}">
                <a16:creationId xmlns:a16="http://schemas.microsoft.com/office/drawing/2014/main" id="{720F94AF-34EB-2748-56DD-88B888BA50E4}"/>
              </a:ext>
            </a:extLst>
          </p:cNvPr>
          <p:cNvSpPr/>
          <p:nvPr/>
        </p:nvSpPr>
        <p:spPr>
          <a:xfrm>
            <a:off x="768096" y="2278380"/>
            <a:ext cx="347472" cy="173736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49" name="Text 55">
            <a:extLst>
              <a:ext uri="{FF2B5EF4-FFF2-40B4-BE49-F238E27FC236}">
                <a16:creationId xmlns:a16="http://schemas.microsoft.com/office/drawing/2014/main" id="{3893B612-3BF9-FC82-1175-35BDEFB82CAC}"/>
              </a:ext>
            </a:extLst>
          </p:cNvPr>
          <p:cNvSpPr/>
          <p:nvPr/>
        </p:nvSpPr>
        <p:spPr>
          <a:xfrm>
            <a:off x="768096" y="227838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I2C</a:t>
            </a:r>
            <a:endParaRPr lang="en-US" sz="550" dirty="0"/>
          </a:p>
        </p:txBody>
      </p:sp>
      <p:grpSp>
        <p:nvGrpSpPr>
          <p:cNvPr id="254" name="Ομάδα 253">
            <a:extLst>
              <a:ext uri="{FF2B5EF4-FFF2-40B4-BE49-F238E27FC236}">
                <a16:creationId xmlns:a16="http://schemas.microsoft.com/office/drawing/2014/main" id="{F4607333-C2C3-FC7F-CF99-D0054D94E269}"/>
              </a:ext>
            </a:extLst>
          </p:cNvPr>
          <p:cNvGrpSpPr/>
          <p:nvPr/>
        </p:nvGrpSpPr>
        <p:grpSpPr>
          <a:xfrm>
            <a:off x="8634006" y="2030569"/>
            <a:ext cx="3329940" cy="566928"/>
            <a:chOff x="8633460" y="2295144"/>
            <a:chExt cx="3329940" cy="566928"/>
          </a:xfrm>
        </p:grpSpPr>
        <p:sp>
          <p:nvSpPr>
            <p:cNvPr id="255" name="Shape 75">
              <a:extLst>
                <a:ext uri="{FF2B5EF4-FFF2-40B4-BE49-F238E27FC236}">
                  <a16:creationId xmlns:a16="http://schemas.microsoft.com/office/drawing/2014/main" id="{B179626F-4C8E-BBAD-4A8C-F5105914943B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/>
            </a:p>
          </p:txBody>
        </p:sp>
        <p:sp>
          <p:nvSpPr>
            <p:cNvPr id="256" name="Shape 76">
              <a:extLst>
                <a:ext uri="{FF2B5EF4-FFF2-40B4-BE49-F238E27FC236}">
                  <a16:creationId xmlns:a16="http://schemas.microsoft.com/office/drawing/2014/main" id="{37E1F50B-0FC5-0CE3-100E-A601E13D0A07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7" name="Shape 77">
              <a:extLst>
                <a:ext uri="{FF2B5EF4-FFF2-40B4-BE49-F238E27FC236}">
                  <a16:creationId xmlns:a16="http://schemas.microsoft.com/office/drawing/2014/main" id="{9EF6D4A5-FA0D-92FF-322E-4540E6E510E3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8" name="Text 80">
              <a:extLst>
                <a:ext uri="{FF2B5EF4-FFF2-40B4-BE49-F238E27FC236}">
                  <a16:creationId xmlns:a16="http://schemas.microsoft.com/office/drawing/2014/main" id="{979A8855-E001-015B-D682-83ED5EA8B8E8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Multifunctional Sensor</a:t>
              </a:r>
              <a:endParaRPr lang="en-US" sz="950" dirty="0"/>
            </a:p>
          </p:txBody>
        </p:sp>
        <p:sp>
          <p:nvSpPr>
            <p:cNvPr id="259" name="Text 81">
              <a:extLst>
                <a:ext uri="{FF2B5EF4-FFF2-40B4-BE49-F238E27FC236}">
                  <a16:creationId xmlns:a16="http://schemas.microsoft.com/office/drawing/2014/main" id="{99E7289A-78E2-241B-E749-767B30E094BE}"/>
                </a:ext>
              </a:extLst>
            </p:cNvPr>
            <p:cNvSpPr/>
            <p:nvPr/>
          </p:nvSpPr>
          <p:spPr>
            <a:xfrm>
              <a:off x="8830055" y="2590038"/>
              <a:ext cx="280132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800" dirty="0">
                  <a:solidFill>
                    <a:srgbClr val="444444"/>
                  </a:solidFill>
                </a:rPr>
                <a:t>Αισθητήρας</a:t>
              </a:r>
              <a:r>
                <a:rPr lang="en-US" sz="800" dirty="0">
                  <a:solidFill>
                    <a:srgbClr val="444444"/>
                  </a:solidFill>
                </a:rPr>
                <a:t>: </a:t>
              </a:r>
              <a:r>
                <a:rPr lang="el-GR" sz="800" dirty="0">
                  <a:solidFill>
                    <a:srgbClr val="444444"/>
                  </a:solidFill>
                </a:rPr>
                <a:t>θερμοκρασίας, υγρασίας, ατμοσφαιρικής πίεσης, περιβαλλοντικού φωτός, ακτινοβολίας </a:t>
              </a:r>
              <a:r>
                <a:rPr lang="en-US" sz="800" dirty="0">
                  <a:solidFill>
                    <a:srgbClr val="444444"/>
                  </a:solidFill>
                </a:rPr>
                <a:t>UV</a:t>
              </a:r>
              <a:endParaRPr lang="en-US" sz="800" dirty="0"/>
            </a:p>
          </p:txBody>
        </p:sp>
        <p:grpSp>
          <p:nvGrpSpPr>
            <p:cNvPr id="260" name="Ομάδα 259">
              <a:extLst>
                <a:ext uri="{FF2B5EF4-FFF2-40B4-BE49-F238E27FC236}">
                  <a16:creationId xmlns:a16="http://schemas.microsoft.com/office/drawing/2014/main" id="{A87B0411-F7FA-2C23-B194-C0C9D17C9FF9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62" name="Text 79">
                <a:extLst>
                  <a:ext uri="{FF2B5EF4-FFF2-40B4-BE49-F238E27FC236}">
                    <a16:creationId xmlns:a16="http://schemas.microsoft.com/office/drawing/2014/main" id="{7443BF24-E8C5-C90B-EE81-56A6520D23CF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63" name="Shape 82">
                <a:extLst>
                  <a:ext uri="{FF2B5EF4-FFF2-40B4-BE49-F238E27FC236}">
                    <a16:creationId xmlns:a16="http://schemas.microsoft.com/office/drawing/2014/main" id="{EBB78B39-8C90-74B4-E434-83BA85AB0F7E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/>
              </a:solidFill>
              <a:ln w="12700">
                <a:solidFill>
                  <a:schemeClr val="accent6"/>
                </a:solidFill>
                <a:prstDash val="solid"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64" name="Text 83">
                <a:extLst>
                  <a:ext uri="{FF2B5EF4-FFF2-40B4-BE49-F238E27FC236}">
                    <a16:creationId xmlns:a16="http://schemas.microsoft.com/office/drawing/2014/main" id="{199AC397-9F19-47D4-E00A-CCE650D9825C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65" name="Shape 84">
                <a:extLst>
                  <a:ext uri="{FF2B5EF4-FFF2-40B4-BE49-F238E27FC236}">
                    <a16:creationId xmlns:a16="http://schemas.microsoft.com/office/drawing/2014/main" id="{0E8848B6-03D0-A5CD-751D-C18EE2EDA010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66" name="Text 85">
                <a:extLst>
                  <a:ext uri="{FF2B5EF4-FFF2-40B4-BE49-F238E27FC236}">
                    <a16:creationId xmlns:a16="http://schemas.microsoft.com/office/drawing/2014/main" id="{A598E264-529F-482F-872B-2077156FB28F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I2C</a:t>
                </a:r>
                <a:endParaRPr lang="en-US" sz="650" dirty="0"/>
              </a:p>
            </p:txBody>
          </p:sp>
        </p:grpSp>
        <p:sp>
          <p:nvSpPr>
            <p:cNvPr id="261" name="Shape 94">
              <a:extLst>
                <a:ext uri="{FF2B5EF4-FFF2-40B4-BE49-F238E27FC236}">
                  <a16:creationId xmlns:a16="http://schemas.microsoft.com/office/drawing/2014/main" id="{925CD78F-87C3-7501-8979-8BE0D3E091B9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70" name="Shape 158">
            <a:extLst>
              <a:ext uri="{FF2B5EF4-FFF2-40B4-BE49-F238E27FC236}">
                <a16:creationId xmlns:a16="http://schemas.microsoft.com/office/drawing/2014/main" id="{582D6129-3FE4-690E-B203-35AAF2861F62}"/>
              </a:ext>
            </a:extLst>
          </p:cNvPr>
          <p:cNvSpPr/>
          <p:nvPr/>
        </p:nvSpPr>
        <p:spPr>
          <a:xfrm flipV="1">
            <a:off x="6878000" y="2338654"/>
            <a:ext cx="1777723" cy="0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71" name="Shape 161">
            <a:extLst>
              <a:ext uri="{FF2B5EF4-FFF2-40B4-BE49-F238E27FC236}">
                <a16:creationId xmlns:a16="http://schemas.microsoft.com/office/drawing/2014/main" id="{1C76B386-18E3-729D-250D-891A603AB8E4}"/>
              </a:ext>
            </a:extLst>
          </p:cNvPr>
          <p:cNvSpPr/>
          <p:nvPr/>
        </p:nvSpPr>
        <p:spPr>
          <a:xfrm>
            <a:off x="7384543" y="2252421"/>
            <a:ext cx="51206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72" name="Text 162">
            <a:extLst>
              <a:ext uri="{FF2B5EF4-FFF2-40B4-BE49-F238E27FC236}">
                <a16:creationId xmlns:a16="http://schemas.microsoft.com/office/drawing/2014/main" id="{6D040816-EA12-28CB-5FC4-F6BD5C67E67A}"/>
              </a:ext>
            </a:extLst>
          </p:cNvPr>
          <p:cNvSpPr/>
          <p:nvPr/>
        </p:nvSpPr>
        <p:spPr>
          <a:xfrm>
            <a:off x="7384543" y="2252421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I2C</a:t>
            </a:r>
            <a:endParaRPr lang="en-US" sz="6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74" name="Ομάδα 273">
            <a:extLst>
              <a:ext uri="{FF2B5EF4-FFF2-40B4-BE49-F238E27FC236}">
                <a16:creationId xmlns:a16="http://schemas.microsoft.com/office/drawing/2014/main" id="{A2029419-E45C-6F9F-066B-A506323DC228}"/>
              </a:ext>
            </a:extLst>
          </p:cNvPr>
          <p:cNvGrpSpPr/>
          <p:nvPr/>
        </p:nvGrpSpPr>
        <p:grpSpPr>
          <a:xfrm>
            <a:off x="8599336" y="3310128"/>
            <a:ext cx="3329940" cy="566928"/>
            <a:chOff x="8633460" y="2295144"/>
            <a:chExt cx="3329940" cy="566928"/>
          </a:xfrm>
        </p:grpSpPr>
        <p:sp>
          <p:nvSpPr>
            <p:cNvPr id="279" name="Shape 75">
              <a:extLst>
                <a:ext uri="{FF2B5EF4-FFF2-40B4-BE49-F238E27FC236}">
                  <a16:creationId xmlns:a16="http://schemas.microsoft.com/office/drawing/2014/main" id="{8D367631-84A8-EB6A-A69D-E5517DA2794C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/>
            </a:p>
          </p:txBody>
        </p:sp>
        <p:sp>
          <p:nvSpPr>
            <p:cNvPr id="280" name="Shape 76">
              <a:extLst>
                <a:ext uri="{FF2B5EF4-FFF2-40B4-BE49-F238E27FC236}">
                  <a16:creationId xmlns:a16="http://schemas.microsoft.com/office/drawing/2014/main" id="{472DE844-A2F8-1E64-AAAF-6AA351B704C5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1" name="Shape 77">
              <a:extLst>
                <a:ext uri="{FF2B5EF4-FFF2-40B4-BE49-F238E27FC236}">
                  <a16:creationId xmlns:a16="http://schemas.microsoft.com/office/drawing/2014/main" id="{B3DADC07-AE0D-BE30-807B-405B8D9896C6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2" name="Text 80">
              <a:extLst>
                <a:ext uri="{FF2B5EF4-FFF2-40B4-BE49-F238E27FC236}">
                  <a16:creationId xmlns:a16="http://schemas.microsoft.com/office/drawing/2014/main" id="{D079B6A9-2DA7-F956-EBFB-7DCBA6EE9203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 b="1" dirty="0">
                  <a:solidFill>
                    <a:srgbClr val="1F4E79"/>
                  </a:solidFill>
                </a:rPr>
                <a:t>2x RGB Led Module</a:t>
              </a:r>
              <a:endParaRPr lang="en-US" sz="950" dirty="0"/>
            </a:p>
          </p:txBody>
        </p:sp>
        <p:sp>
          <p:nvSpPr>
            <p:cNvPr id="283" name="Text 81">
              <a:extLst>
                <a:ext uri="{FF2B5EF4-FFF2-40B4-BE49-F238E27FC236}">
                  <a16:creationId xmlns:a16="http://schemas.microsoft.com/office/drawing/2014/main" id="{7DB9AEF2-E518-0BFD-FCA2-BDA6B6E20678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>
                  <a:solidFill>
                    <a:srgbClr val="444444"/>
                  </a:solidFill>
                </a:rPr>
                <a:t>RGB Led</a:t>
              </a:r>
              <a:endParaRPr lang="en-US" sz="800" dirty="0"/>
            </a:p>
          </p:txBody>
        </p:sp>
        <p:grpSp>
          <p:nvGrpSpPr>
            <p:cNvPr id="284" name="Ομάδα 283">
              <a:extLst>
                <a:ext uri="{FF2B5EF4-FFF2-40B4-BE49-F238E27FC236}">
                  <a16:creationId xmlns:a16="http://schemas.microsoft.com/office/drawing/2014/main" id="{F0492CB3-A037-3AB4-431C-B588168C950F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86" name="Text 79">
                <a:extLst>
                  <a:ext uri="{FF2B5EF4-FFF2-40B4-BE49-F238E27FC236}">
                    <a16:creationId xmlns:a16="http://schemas.microsoft.com/office/drawing/2014/main" id="{0B4A51EA-3B9B-20F2-CCA1-23F50070C45E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87" name="Shape 82">
                <a:extLst>
                  <a:ext uri="{FF2B5EF4-FFF2-40B4-BE49-F238E27FC236}">
                    <a16:creationId xmlns:a16="http://schemas.microsoft.com/office/drawing/2014/main" id="{5CE2329A-336F-C69D-CEAB-E290ACFE0CDB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288" name="Text 83">
                <a:extLst>
                  <a:ext uri="{FF2B5EF4-FFF2-40B4-BE49-F238E27FC236}">
                    <a16:creationId xmlns:a16="http://schemas.microsoft.com/office/drawing/2014/main" id="{119D3235-D7F5-BFE6-7829-D3738B86D6E6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89" name="Shape 84">
                <a:extLst>
                  <a:ext uri="{FF2B5EF4-FFF2-40B4-BE49-F238E27FC236}">
                    <a16:creationId xmlns:a16="http://schemas.microsoft.com/office/drawing/2014/main" id="{C42F8185-7F3B-59C5-BC46-189FE82B7EB0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90" name="Text 85">
                <a:extLst>
                  <a:ext uri="{FF2B5EF4-FFF2-40B4-BE49-F238E27FC236}">
                    <a16:creationId xmlns:a16="http://schemas.microsoft.com/office/drawing/2014/main" id="{8B02EEE3-68CE-D60E-3155-B27811309317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D5 – D6</a:t>
                </a:r>
                <a:endParaRPr lang="en-US" sz="650" dirty="0"/>
              </a:p>
            </p:txBody>
          </p:sp>
        </p:grpSp>
        <p:sp>
          <p:nvSpPr>
            <p:cNvPr id="285" name="Shape 94">
              <a:extLst>
                <a:ext uri="{FF2B5EF4-FFF2-40B4-BE49-F238E27FC236}">
                  <a16:creationId xmlns:a16="http://schemas.microsoft.com/office/drawing/2014/main" id="{38B15731-5EF7-85B8-20FA-66ED1756C2DE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75" name="Shape 158">
            <a:extLst>
              <a:ext uri="{FF2B5EF4-FFF2-40B4-BE49-F238E27FC236}">
                <a16:creationId xmlns:a16="http://schemas.microsoft.com/office/drawing/2014/main" id="{AE0D31F4-F136-F501-50E9-A8F396F3CBA7}"/>
              </a:ext>
            </a:extLst>
          </p:cNvPr>
          <p:cNvSpPr/>
          <p:nvPr/>
        </p:nvSpPr>
        <p:spPr>
          <a:xfrm flipV="1">
            <a:off x="2120647" y="3605021"/>
            <a:ext cx="6584631" cy="51013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pSp>
        <p:nvGrpSpPr>
          <p:cNvPr id="276" name="Ομάδα 275">
            <a:extLst>
              <a:ext uri="{FF2B5EF4-FFF2-40B4-BE49-F238E27FC236}">
                <a16:creationId xmlns:a16="http://schemas.microsoft.com/office/drawing/2014/main" id="{14D8350E-FB4D-7A83-EC9D-048D8442CD3E}"/>
              </a:ext>
            </a:extLst>
          </p:cNvPr>
          <p:cNvGrpSpPr/>
          <p:nvPr/>
        </p:nvGrpSpPr>
        <p:grpSpPr>
          <a:xfrm>
            <a:off x="7362825" y="3513582"/>
            <a:ext cx="512064" cy="182880"/>
            <a:chOff x="6236208" y="4085082"/>
            <a:chExt cx="512064" cy="182880"/>
          </a:xfrm>
        </p:grpSpPr>
        <p:sp>
          <p:nvSpPr>
            <p:cNvPr id="277" name="Shape 161">
              <a:extLst>
                <a:ext uri="{FF2B5EF4-FFF2-40B4-BE49-F238E27FC236}">
                  <a16:creationId xmlns:a16="http://schemas.microsoft.com/office/drawing/2014/main" id="{6DC01536-F099-1E17-B841-1A113C49506F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8" name="Text 162">
              <a:extLst>
                <a:ext uri="{FF2B5EF4-FFF2-40B4-BE49-F238E27FC236}">
                  <a16:creationId xmlns:a16="http://schemas.microsoft.com/office/drawing/2014/main" id="{B9D03E0A-0174-F1EF-6756-2E302F121081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D5 + D6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92" name="Ομάδα 91">
            <a:extLst>
              <a:ext uri="{FF2B5EF4-FFF2-40B4-BE49-F238E27FC236}">
                <a16:creationId xmlns:a16="http://schemas.microsoft.com/office/drawing/2014/main" id="{AD5502E5-C19B-35A4-1298-D99659EE862E}"/>
              </a:ext>
            </a:extLst>
          </p:cNvPr>
          <p:cNvGrpSpPr/>
          <p:nvPr/>
        </p:nvGrpSpPr>
        <p:grpSpPr>
          <a:xfrm>
            <a:off x="10406928" y="1658874"/>
            <a:ext cx="777240" cy="182880"/>
            <a:chOff x="10341864" y="4864608"/>
            <a:chExt cx="777240" cy="182880"/>
          </a:xfrm>
        </p:grpSpPr>
        <p:sp>
          <p:nvSpPr>
            <p:cNvPr id="154" name="Shape 152"/>
            <p:cNvSpPr/>
            <p:nvPr/>
          </p:nvSpPr>
          <p:spPr>
            <a:xfrm>
              <a:off x="10341864" y="4864608"/>
              <a:ext cx="329184" cy="182880"/>
            </a:xfrm>
            <a:prstGeom prst="roundRect">
              <a:avLst>
                <a:gd name="adj" fmla="val 20000"/>
              </a:avLst>
            </a:prstGeom>
            <a:solidFill>
              <a:srgbClr val="E74C3C"/>
            </a:solidFill>
            <a:ln w="12700">
              <a:solidFill>
                <a:srgbClr val="E74C3C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5" name="Text 153"/>
            <p:cNvSpPr/>
            <p:nvPr/>
          </p:nvSpPr>
          <p:spPr>
            <a:xfrm>
              <a:off x="10341864" y="4864608"/>
              <a:ext cx="32918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12</a:t>
              </a:r>
              <a:r>
                <a:rPr lang="en-US" sz="650" b="1" dirty="0">
                  <a:solidFill>
                    <a:srgbClr val="FFFFFF"/>
                  </a:solidFill>
                </a:rPr>
                <a:t>V</a:t>
              </a:r>
              <a:endParaRPr lang="en-US" sz="650" dirty="0"/>
            </a:p>
          </p:txBody>
        </p:sp>
        <p:sp>
          <p:nvSpPr>
            <p:cNvPr id="156" name="Shape 154"/>
            <p:cNvSpPr/>
            <p:nvPr/>
          </p:nvSpPr>
          <p:spPr>
            <a:xfrm>
              <a:off x="10716768" y="4864608"/>
              <a:ext cx="402336" cy="182880"/>
            </a:xfrm>
            <a:prstGeom prst="roundRect">
              <a:avLst>
                <a:gd name="adj" fmla="val 20000"/>
              </a:avLst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7" name="Text 155"/>
            <p:cNvSpPr/>
            <p:nvPr/>
          </p:nvSpPr>
          <p:spPr>
            <a:xfrm>
              <a:off x="10716768" y="4864608"/>
              <a:ext cx="4023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</a:rPr>
                <a:t>GND</a:t>
              </a:r>
              <a:endParaRPr lang="en-US" sz="650" dirty="0"/>
            </a:p>
          </p:txBody>
        </p:sp>
      </p:grpSp>
      <p:sp>
        <p:nvSpPr>
          <p:cNvPr id="64" name="Shape 157">
            <a:extLst>
              <a:ext uri="{FF2B5EF4-FFF2-40B4-BE49-F238E27FC236}">
                <a16:creationId xmlns:a16="http://schemas.microsoft.com/office/drawing/2014/main" id="{6B001ABC-EB03-0378-ECC7-1D69492B86DD}"/>
              </a:ext>
            </a:extLst>
          </p:cNvPr>
          <p:cNvSpPr/>
          <p:nvPr/>
        </p:nvSpPr>
        <p:spPr>
          <a:xfrm flipH="1">
            <a:off x="6878000" y="2325463"/>
            <a:ext cx="15621" cy="1287014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237</Words>
  <Application>Microsoft Office PowerPoint</Application>
  <PresentationFormat>Ευρεία οθόνη</PresentationFormat>
  <Paragraphs>85</Paragraphs>
  <Slides>1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1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Vassilis Vallianos</cp:lastModifiedBy>
  <cp:revision>19</cp:revision>
  <dcterms:created xsi:type="dcterms:W3CDTF">2026-03-14T07:33:21Z</dcterms:created>
  <dcterms:modified xsi:type="dcterms:W3CDTF">2026-05-04T06:26:19Z</dcterms:modified>
</cp:coreProperties>
</file>